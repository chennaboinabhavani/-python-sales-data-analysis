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5" r:id="rId4"/>
  </p:sldMasterIdLst>
  <p:sldIdLst>
    <p:sldId id="257" r:id="rId5"/>
    <p:sldId id="263" r:id="rId6"/>
    <p:sldId id="265" r:id="rId7"/>
    <p:sldId id="266" r:id="rId8"/>
    <p:sldId id="268" r:id="rId9"/>
    <p:sldId id="267" r:id="rId10"/>
    <p:sldId id="269" r:id="rId11"/>
    <p:sldId id="270" r:id="rId12"/>
    <p:sldId id="259" r:id="rId13"/>
    <p:sldId id="260" r:id="rId14"/>
    <p:sldId id="261" r:id="rId15"/>
    <p:sldId id="262" r:id="rId16"/>
    <p:sldId id="264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9558BA8-1BBE-4CF2-98C6-F2768F33EB54}">
          <p14:sldIdLst>
            <p14:sldId id="257"/>
            <p14:sldId id="263"/>
          </p14:sldIdLst>
        </p14:section>
        <p14:section name="Untitled Section" id="{503743F8-1538-41BA-9549-C674B5958DF5}">
          <p14:sldIdLst>
            <p14:sldId id="265"/>
            <p14:sldId id="266"/>
            <p14:sldId id="268"/>
            <p14:sldId id="267"/>
            <p14:sldId id="269"/>
            <p14:sldId id="270"/>
            <p14:sldId id="259"/>
            <p14:sldId id="260"/>
            <p14:sldId id="261"/>
            <p14:sldId id="262"/>
            <p14:sldId id="264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4/25/2026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391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4/25/2026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059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4/25/2026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747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4/25/2026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81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4/25/2026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896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4/25/2026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753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4/25/2026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821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A474-078D-4E9B-9B14-09A87B19DC46}" type="datetime1">
              <a:rPr lang="en-US" smtClean="0"/>
              <a:t>4/25/2026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48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7D986-8816-4272-A432-0437A28A9828}" type="datetime1">
              <a:rPr lang="en-US" smtClean="0"/>
              <a:t>4/25/2026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263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4/25/2026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54501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4/25/2026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7375555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4/25/2026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63337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4/25/2026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2248644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4/25/2026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00095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4/25/2026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867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4/25/2026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24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D6E202-B606-4609-B914-27C9371A1F6D}" type="datetime1">
              <a:rPr lang="en-US" smtClean="0"/>
              <a:t>4/25/2026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514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6" r:id="rId1"/>
    <p:sldLayoutId id="2147483977" r:id="rId2"/>
    <p:sldLayoutId id="2147483978" r:id="rId3"/>
    <p:sldLayoutId id="2147483979" r:id="rId4"/>
    <p:sldLayoutId id="2147483980" r:id="rId5"/>
    <p:sldLayoutId id="2147483981" r:id="rId6"/>
    <p:sldLayoutId id="2147483982" r:id="rId7"/>
    <p:sldLayoutId id="2147483983" r:id="rId8"/>
    <p:sldLayoutId id="2147483984" r:id="rId9"/>
    <p:sldLayoutId id="2147483985" r:id="rId10"/>
    <p:sldLayoutId id="2147483986" r:id="rId11"/>
    <p:sldLayoutId id="2147483987" r:id="rId12"/>
    <p:sldLayoutId id="2147483988" r:id="rId13"/>
    <p:sldLayoutId id="2147483989" r:id="rId14"/>
    <p:sldLayoutId id="2147483990" r:id="rId15"/>
    <p:sldLayoutId id="2147483991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2292" y="1884218"/>
            <a:ext cx="5957453" cy="886691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7030A0"/>
                </a:solidFill>
              </a:rPr>
              <a:t>SALES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47165" y="4710545"/>
            <a:ext cx="3782292" cy="540328"/>
          </a:xfrm>
        </p:spPr>
        <p:txBody>
          <a:bodyPr>
            <a:normAutofit/>
          </a:bodyPr>
          <a:lstStyle/>
          <a:p>
            <a:r>
              <a:rPr lang="en-US" sz="2400" i="1" dirty="0" err="1">
                <a:solidFill>
                  <a:srgbClr val="002060"/>
                </a:solidFill>
              </a:rPr>
              <a:t>Chennaboina.Bhavani</a:t>
            </a:r>
            <a:r>
              <a:rPr lang="en-US" sz="2400" i="1">
                <a:solidFill>
                  <a:srgbClr val="002060"/>
                </a:solidFill>
              </a:rPr>
              <a:t> </a:t>
            </a:r>
            <a:endParaRPr lang="en-US" sz="2400" i="1" dirty="0">
              <a:solidFill>
                <a:srgbClr val="002060"/>
              </a:solidFill>
            </a:endParaRP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263235"/>
            <a:ext cx="3782292" cy="7121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7B6FE-BD9A-2825-BD8E-A52EC303D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055" y="512620"/>
            <a:ext cx="8913784" cy="5542598"/>
          </a:xfrm>
        </p:spPr>
        <p:txBody>
          <a:bodyPr>
            <a:normAutofit fontScale="2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IN" sz="8000" b="1" dirty="0">
                <a:solidFill>
                  <a:schemeClr val="bg2">
                    <a:lumMod val="10000"/>
                  </a:schemeClr>
                </a:solidFill>
              </a:rPr>
              <a:t>    </a:t>
            </a:r>
            <a:r>
              <a:rPr lang="en-IN" sz="9600" b="1" dirty="0">
                <a:solidFill>
                  <a:srgbClr val="00B050"/>
                </a:solidFill>
              </a:rPr>
              <a:t>Project Overview: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N" sz="8000" b="1" dirty="0">
                <a:solidFill>
                  <a:schemeClr val="bg2">
                    <a:lumMod val="10000"/>
                  </a:schemeClr>
                </a:solidFill>
              </a:rPr>
              <a:t>         </a:t>
            </a:r>
            <a:r>
              <a:rPr lang="en-IN" sz="8000" b="1" dirty="0">
                <a:solidFill>
                  <a:srgbClr val="7030A0"/>
                </a:solidFill>
              </a:rPr>
              <a:t>Project </a:t>
            </a:r>
            <a:r>
              <a:rPr lang="en-IN" sz="8000" dirty="0">
                <a:solidFill>
                  <a:srgbClr val="7030A0"/>
                </a:solidFill>
              </a:rPr>
              <a:t>Title</a:t>
            </a:r>
            <a:r>
              <a:rPr lang="en-IN" sz="8000" dirty="0">
                <a:solidFill>
                  <a:schemeClr val="bg2">
                    <a:lumMod val="10000"/>
                  </a:schemeClr>
                </a:solidFill>
              </a:rPr>
              <a:t>:  Sales Data Analysis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N" sz="8000" b="1" dirty="0">
                <a:solidFill>
                  <a:schemeClr val="bg2">
                    <a:lumMod val="10000"/>
                  </a:schemeClr>
                </a:solidFill>
              </a:rPr>
              <a:t>        </a:t>
            </a:r>
            <a:r>
              <a:rPr lang="en-IN" sz="8000" b="1" dirty="0">
                <a:solidFill>
                  <a:srgbClr val="7030A0"/>
                </a:solidFill>
              </a:rPr>
              <a:t> Domain</a:t>
            </a:r>
            <a:r>
              <a:rPr lang="en-IN" sz="8000" dirty="0">
                <a:solidFill>
                  <a:schemeClr val="bg2">
                    <a:lumMod val="10000"/>
                  </a:schemeClr>
                </a:solidFill>
              </a:rPr>
              <a:t>:  Retail / Business Analytics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N" sz="8000" b="1" dirty="0">
                <a:solidFill>
                  <a:schemeClr val="bg2">
                    <a:lumMod val="10000"/>
                  </a:schemeClr>
                </a:solidFill>
              </a:rPr>
              <a:t>         </a:t>
            </a:r>
            <a:r>
              <a:rPr lang="en-IN" sz="8000" b="1" dirty="0">
                <a:solidFill>
                  <a:srgbClr val="7030A0"/>
                </a:solidFill>
              </a:rPr>
              <a:t>Tool Used</a:t>
            </a:r>
            <a:r>
              <a:rPr lang="en-IN" sz="8000" b="1" dirty="0">
                <a:solidFill>
                  <a:schemeClr val="bg2">
                    <a:lumMod val="10000"/>
                  </a:schemeClr>
                </a:solidFill>
              </a:rPr>
              <a:t>:  </a:t>
            </a:r>
            <a:r>
              <a:rPr lang="en-IN" sz="8000" dirty="0">
                <a:solidFill>
                  <a:schemeClr val="bg2">
                    <a:lumMod val="10000"/>
                  </a:schemeClr>
                </a:solidFill>
              </a:rPr>
              <a:t>Python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N" sz="8000" dirty="0">
                <a:solidFill>
                  <a:schemeClr val="bg2">
                    <a:lumMod val="10000"/>
                  </a:schemeClr>
                </a:solidFill>
              </a:rPr>
              <a:t>         </a:t>
            </a:r>
            <a:r>
              <a:rPr lang="en-IN" sz="8000" b="1" dirty="0">
                <a:solidFill>
                  <a:srgbClr val="7030A0"/>
                </a:solidFill>
              </a:rPr>
              <a:t>Libraries Used</a:t>
            </a:r>
            <a:r>
              <a:rPr lang="en-IN" sz="8000" dirty="0">
                <a:solidFill>
                  <a:schemeClr val="bg2">
                    <a:lumMod val="10000"/>
                  </a:schemeClr>
                </a:solidFill>
              </a:rPr>
              <a:t>:  Pandas, Numpy, Matplotlib.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N" sz="8000" dirty="0">
                <a:solidFill>
                  <a:schemeClr val="bg2">
                    <a:lumMod val="10000"/>
                  </a:schemeClr>
                </a:solidFill>
              </a:rPr>
              <a:t>         </a:t>
            </a:r>
            <a:r>
              <a:rPr lang="en-IN" sz="8000" b="1" dirty="0">
                <a:solidFill>
                  <a:srgbClr val="7030A0"/>
                </a:solidFill>
              </a:rPr>
              <a:t>Dataset Type</a:t>
            </a:r>
            <a:r>
              <a:rPr lang="en-IN" sz="8000" b="1" dirty="0">
                <a:solidFill>
                  <a:schemeClr val="bg2">
                    <a:lumMod val="10000"/>
                  </a:schemeClr>
                </a:solidFill>
              </a:rPr>
              <a:t>:  </a:t>
            </a:r>
            <a:r>
              <a:rPr lang="en-IN" sz="8000" dirty="0">
                <a:solidFill>
                  <a:schemeClr val="bg2">
                    <a:lumMod val="10000"/>
                  </a:schemeClr>
                </a:solidFill>
              </a:rPr>
              <a:t>Monthly Sales Data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N" sz="8000" b="1" dirty="0">
                <a:solidFill>
                  <a:schemeClr val="bg2">
                    <a:lumMod val="10000"/>
                  </a:schemeClr>
                </a:solidFill>
              </a:rPr>
              <a:t>        </a:t>
            </a:r>
            <a:r>
              <a:rPr lang="en-IN" sz="8000" b="1" dirty="0">
                <a:solidFill>
                  <a:srgbClr val="7030A0"/>
                </a:solidFill>
              </a:rPr>
              <a:t>Objective</a:t>
            </a:r>
            <a:r>
              <a:rPr lang="en-IN" sz="8000" b="1" dirty="0">
                <a:solidFill>
                  <a:schemeClr val="bg2">
                    <a:lumMod val="10000"/>
                  </a:schemeClr>
                </a:solidFill>
              </a:rPr>
              <a:t>:  </a:t>
            </a:r>
            <a:r>
              <a:rPr lang="en-IN" sz="8000" dirty="0">
                <a:solidFill>
                  <a:schemeClr val="bg2">
                    <a:lumMod val="10000"/>
                  </a:schemeClr>
                </a:solidFill>
              </a:rPr>
              <a:t>To </a:t>
            </a:r>
            <a:r>
              <a:rPr lang="en-IN" sz="8000" dirty="0" err="1">
                <a:solidFill>
                  <a:schemeClr val="bg2">
                    <a:lumMod val="10000"/>
                  </a:schemeClr>
                </a:solidFill>
              </a:rPr>
              <a:t>analyze</a:t>
            </a:r>
            <a:r>
              <a:rPr lang="en-IN" sz="8000" dirty="0">
                <a:solidFill>
                  <a:schemeClr val="bg2">
                    <a:lumMod val="10000"/>
                  </a:schemeClr>
                </a:solidFill>
              </a:rPr>
              <a:t> and visualize monthly sales performance                using Python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Python Notebook: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b="1" dirty="0"/>
              <a:t>Python Notebook is an interactive environment used to write, execute, </a:t>
            </a:r>
          </a:p>
          <a:p>
            <a:pPr marL="0" indent="0">
              <a:buNone/>
            </a:pPr>
            <a:r>
              <a:rPr lang="en-US" b="1" dirty="0"/>
              <a:t>      And visualize Python code in cell format.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5209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AAD32-181F-646C-CE79-2DBC75BA6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1"/>
            <a:ext cx="8596668" cy="6096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Data preprocessing Tasks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BBCE9-B7B6-3924-8217-972AC9AC0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19201"/>
            <a:ext cx="6745371" cy="2452253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70C0"/>
                </a:solidFill>
              </a:rPr>
              <a:t>Load data using Pandas :</a:t>
            </a:r>
          </a:p>
          <a:p>
            <a:pPr marL="0" indent="0">
              <a:buNone/>
            </a:pPr>
            <a:endParaRPr lang="en-IN" dirty="0">
              <a:solidFill>
                <a:srgbClr val="0070C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C9862A-58B9-9717-E0E2-E3C6AD25C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888" y="2507050"/>
            <a:ext cx="6345244" cy="10957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8D29D0-1011-E4E8-7C1A-4CA19D6E1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734" y="1650113"/>
            <a:ext cx="2649412" cy="7952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2020731-1FB9-92FA-C81F-69FC572E77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033" y="3729119"/>
            <a:ext cx="6516099" cy="295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705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A55A7A-219C-C24A-6E1D-CE9BE0298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218" y="277091"/>
            <a:ext cx="4501151" cy="997527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70C0"/>
                </a:solidFill>
              </a:rPr>
              <a:t>Check for missing Values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IN" dirty="0">
              <a:solidFill>
                <a:srgbClr val="0070C0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B7ABA32-E6C8-9E58-1940-3918D4361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958" y="1549082"/>
            <a:ext cx="2613678" cy="2076740"/>
          </a:xfrm>
          <a:prstGeom prst="rect">
            <a:avLst/>
          </a:prstGeom>
        </p:spPr>
      </p:pic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9C78A585-4683-FCED-BA93-5FA7CC27845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48146" y="1000154"/>
            <a:ext cx="3285384" cy="548928"/>
          </a:xfrm>
          <a:prstGeom prst="rect">
            <a:avLst/>
          </a:prstGeom>
        </p:spPr>
      </p:pic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320E4549-C164-A007-82D8-CC017BD226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72852" y="1923297"/>
            <a:ext cx="4501150" cy="411806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0070C0"/>
                </a:solidFill>
              </a:rPr>
              <a:t>Table Columns:</a:t>
            </a:r>
            <a:endParaRPr lang="en-IN" sz="2000" dirty="0">
              <a:solidFill>
                <a:srgbClr val="0070C0"/>
              </a:solidFill>
            </a:endParaRP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D381B2F8-98EC-A0D0-56D1-E2F5E37584B5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772851" y="-180888"/>
            <a:ext cx="4501151" cy="1455506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70C0"/>
                </a:solidFill>
              </a:rPr>
              <a:t>Table shape:</a:t>
            </a:r>
          </a:p>
          <a:p>
            <a:r>
              <a:rPr lang="en-IN" dirty="0">
                <a:solidFill>
                  <a:srgbClr val="0070C0"/>
                </a:solidFill>
              </a:rPr>
              <a:t>  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F8EAFA4-4EA0-290F-9217-2A32B5C8EC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8746" y="775854"/>
            <a:ext cx="1831887" cy="47413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3164EE20-47CB-D9F1-65D2-5BABB14C80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9152" y="1204679"/>
            <a:ext cx="1621481" cy="344403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74CF254-4FCC-CC4D-94D5-5AD1FAAD80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9152" y="2324127"/>
            <a:ext cx="2175147" cy="526649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D88A23D4-6937-CCC7-C986-FF85EFD54C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9971" y="2933869"/>
            <a:ext cx="5001323" cy="107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682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BDB76-B6CA-6DBC-6D56-C51B100D3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74748"/>
            <a:ext cx="4890656" cy="5086270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0070C0"/>
                </a:solidFill>
              </a:rPr>
              <a:t>Create new columns:</a:t>
            </a: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b="1" dirty="0">
                <a:solidFill>
                  <a:srgbClr val="00B050"/>
                </a:solidFill>
              </a:rPr>
              <a:t>1</a:t>
            </a:r>
            <a:r>
              <a:rPr lang="en-US" sz="1800" b="1" dirty="0">
                <a:solidFill>
                  <a:srgbClr val="00B050"/>
                </a:solidFill>
              </a:rPr>
              <a:t>.Total_sales=</a:t>
            </a:r>
            <a:r>
              <a:rPr lang="en-US" sz="1800" b="1" dirty="0" err="1">
                <a:solidFill>
                  <a:srgbClr val="00B050"/>
                </a:solidFill>
              </a:rPr>
              <a:t>Units_Sold</a:t>
            </a:r>
            <a:r>
              <a:rPr lang="en-US" sz="1800" b="1" dirty="0">
                <a:solidFill>
                  <a:srgbClr val="00B050"/>
                </a:solidFill>
              </a:rPr>
              <a:t> * </a:t>
            </a:r>
            <a:r>
              <a:rPr lang="en-US" sz="1800" b="1" dirty="0" err="1">
                <a:solidFill>
                  <a:srgbClr val="00B050"/>
                </a:solidFill>
              </a:rPr>
              <a:t>Unit_price</a:t>
            </a:r>
            <a:br>
              <a:rPr lang="en-US" sz="1800" b="1" dirty="0">
                <a:solidFill>
                  <a:srgbClr val="00B050"/>
                </a:solidFill>
              </a:rPr>
            </a:br>
            <a:br>
              <a:rPr lang="en-US" sz="1800" b="1" dirty="0">
                <a:solidFill>
                  <a:srgbClr val="00B050"/>
                </a:solidFill>
              </a:rPr>
            </a:br>
            <a:br>
              <a:rPr lang="en-US" sz="1800" b="1" dirty="0">
                <a:solidFill>
                  <a:srgbClr val="00B050"/>
                </a:solidFill>
              </a:rPr>
            </a:br>
            <a:br>
              <a:rPr lang="en-US" sz="1800" b="1" dirty="0">
                <a:solidFill>
                  <a:srgbClr val="00B050"/>
                </a:solidFill>
              </a:rPr>
            </a:br>
            <a:r>
              <a:rPr lang="en-US" sz="1800" b="1" dirty="0">
                <a:solidFill>
                  <a:srgbClr val="00B050"/>
                </a:solidFill>
              </a:rPr>
              <a:t>2.Discount Amount</a:t>
            </a:r>
            <a:br>
              <a:rPr lang="en-US" sz="1800" b="1" dirty="0">
                <a:solidFill>
                  <a:srgbClr val="00B050"/>
                </a:solidFill>
              </a:rPr>
            </a:br>
            <a:br>
              <a:rPr lang="en-US" sz="1800" b="1" dirty="0">
                <a:solidFill>
                  <a:srgbClr val="00B050"/>
                </a:solidFill>
              </a:rPr>
            </a:br>
            <a:br>
              <a:rPr lang="en-US" sz="1800" b="1" dirty="0">
                <a:solidFill>
                  <a:srgbClr val="00B050"/>
                </a:solidFill>
              </a:rPr>
            </a:br>
            <a:br>
              <a:rPr lang="en-US" sz="1800" b="1" dirty="0">
                <a:solidFill>
                  <a:srgbClr val="00B050"/>
                </a:solidFill>
              </a:rPr>
            </a:br>
            <a:br>
              <a:rPr lang="en-US" sz="1800" b="1" dirty="0">
                <a:solidFill>
                  <a:srgbClr val="00B050"/>
                </a:solidFill>
              </a:rPr>
            </a:br>
            <a:r>
              <a:rPr lang="en-US" sz="1800" b="1" dirty="0">
                <a:solidFill>
                  <a:srgbClr val="00B050"/>
                </a:solidFill>
              </a:rPr>
              <a:t>3.Final_Sales=</a:t>
            </a:r>
            <a:r>
              <a:rPr lang="en-US" sz="1800" b="1" dirty="0" err="1">
                <a:solidFill>
                  <a:srgbClr val="00B050"/>
                </a:solidFill>
              </a:rPr>
              <a:t>Total_Sales</a:t>
            </a:r>
            <a:r>
              <a:rPr lang="en-US" sz="1800" b="1" dirty="0">
                <a:solidFill>
                  <a:srgbClr val="00B050"/>
                </a:solidFill>
              </a:rPr>
              <a:t>-Discount</a:t>
            </a:r>
            <a:br>
              <a:rPr lang="en-US" dirty="0"/>
            </a:b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AEC1A1E-4C9F-6DE0-9207-3F4D93FF676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183281" y="775855"/>
            <a:ext cx="6366807" cy="5159234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505F22-3DF6-57EE-B04B-173FC989BD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3280" y="387927"/>
            <a:ext cx="6469402" cy="491459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Create new columns :Total Table</a:t>
            </a:r>
            <a:endParaRPr lang="en-IN" dirty="0"/>
          </a:p>
        </p:txBody>
      </p:sp>
      <p:pic>
        <p:nvPicPr>
          <p:cNvPr id="7" name="Content Placeholder 23">
            <a:extLst>
              <a:ext uri="{FF2B5EF4-FFF2-40B4-BE49-F238E27FC236}">
                <a16:creationId xmlns:a16="http://schemas.microsoft.com/office/drawing/2014/main" id="{251CF7AF-6A45-12F6-C586-55E44A3C7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318" y="619512"/>
            <a:ext cx="4104162" cy="99752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8B7ABE0-6734-2324-789D-9B31EE8EF9AE}"/>
              </a:ext>
            </a:extLst>
          </p:cNvPr>
          <p:cNvSpPr txBox="1"/>
          <p:nvPr/>
        </p:nvSpPr>
        <p:spPr>
          <a:xfrm>
            <a:off x="-69180" y="216254"/>
            <a:ext cx="47223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rgbClr val="0070C0"/>
                </a:solidFill>
              </a:rPr>
              <a:t>Convert Date column to datetime</a:t>
            </a:r>
            <a:endParaRPr lang="en-IN" sz="1800" dirty="0">
              <a:solidFill>
                <a:srgbClr val="0070C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A2B9A-6F09-A9FA-2445-102379432A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12" y="5054717"/>
            <a:ext cx="4163006" cy="96350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BBBB1F2-0A8F-F02B-9C1A-7B4FA7CEB8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12" y="3642426"/>
            <a:ext cx="4334480" cy="80488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2E46992-37D8-6FB7-84A7-552DFE30AA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079" y="2596685"/>
            <a:ext cx="4558147" cy="618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297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E398D-6685-2408-4F23-5080C8934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23185-794A-247A-5B0C-8BC629EA4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218" y="277091"/>
            <a:ext cx="4501151" cy="997527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dirty="0">
              <a:solidFill>
                <a:srgbClr val="0070C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dirty="0" err="1">
                <a:solidFill>
                  <a:srgbClr val="00B050"/>
                </a:solidFill>
              </a:rPr>
              <a:t>Analaysis</a:t>
            </a:r>
            <a:r>
              <a:rPr lang="en-IN" dirty="0">
                <a:solidFill>
                  <a:srgbClr val="00B050"/>
                </a:solidFill>
              </a:rPr>
              <a:t>:</a:t>
            </a:r>
          </a:p>
          <a:p>
            <a:r>
              <a:rPr lang="en-IN" dirty="0">
                <a:solidFill>
                  <a:srgbClr val="0070C0"/>
                </a:solidFill>
              </a:rPr>
              <a:t>     1.</a:t>
            </a:r>
            <a:r>
              <a:rPr lang="en-IN" sz="2000" dirty="0">
                <a:solidFill>
                  <a:srgbClr val="0070C0"/>
                </a:solidFill>
              </a:rPr>
              <a:t>What is the total revenue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1456F4-B48C-B423-5559-6ECD6E025D04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426675" y="921373"/>
            <a:ext cx="4275817" cy="464081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</a:rPr>
              <a:t>3.W</a:t>
            </a:r>
            <a:r>
              <a:rPr lang="en-US" sz="2000" i="1" dirty="0">
                <a:solidFill>
                  <a:srgbClr val="0070C0"/>
                </a:solidFill>
              </a:rPr>
              <a:t>hich </a:t>
            </a:r>
            <a:r>
              <a:rPr lang="en-US" sz="2000" dirty="0">
                <a:solidFill>
                  <a:srgbClr val="0070C0"/>
                </a:solidFill>
              </a:rPr>
              <a:t> Category perform best</a:t>
            </a:r>
            <a:endParaRPr lang="en-IN" sz="2000" dirty="0">
              <a:solidFill>
                <a:srgbClr val="0070C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367999-DBEA-0911-FD23-95FB3AEB1A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5745" y="2944917"/>
            <a:ext cx="6248908" cy="309644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 2.which region has highest sales</a:t>
            </a:r>
          </a:p>
          <a:p>
            <a:pPr marL="0" indent="0">
              <a:buNone/>
            </a:pPr>
            <a:endParaRPr lang="en-IN" dirty="0">
              <a:solidFill>
                <a:srgbClr val="0070C0"/>
              </a:solidFill>
            </a:endParaRPr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2C52EA5B-CAE2-E4BD-0974-BAAB7677E92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5210089" y="1439744"/>
            <a:ext cx="4903788" cy="7481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70821B-8615-E1AB-DB78-0C47EB0EE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270" y="1274618"/>
            <a:ext cx="3435148" cy="9975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85296AE-8563-8F78-8905-8A3D5DFDED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2269" y="2363026"/>
            <a:ext cx="2783985" cy="4910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87ED5F7-897E-4CE6-7693-4ECFE3C00D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855" y="3269672"/>
            <a:ext cx="5896798" cy="74814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D429627-B1B9-F563-27A6-538A2EB78E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7259" y="4128537"/>
            <a:ext cx="3420996" cy="11241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05FA0A-AECB-210A-CE8E-731218D3C4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9125" y="2272144"/>
            <a:ext cx="2777839" cy="73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923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993AE-3CF9-B602-0FE8-D5756F4AD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682" y="96981"/>
            <a:ext cx="8596668" cy="2063608"/>
          </a:xfrm>
        </p:spPr>
        <p:txBody>
          <a:bodyPr/>
          <a:lstStyle/>
          <a:p>
            <a:r>
              <a:rPr lang="en-US" sz="2000" dirty="0">
                <a:solidFill>
                  <a:srgbClr val="7030A0"/>
                </a:solidFill>
              </a:rPr>
              <a:t>4</a:t>
            </a:r>
            <a:r>
              <a:rPr lang="en-US" dirty="0">
                <a:solidFill>
                  <a:srgbClr val="7030A0"/>
                </a:solidFill>
              </a:rPr>
              <a:t>.</a:t>
            </a:r>
            <a:r>
              <a:rPr lang="en-US" sz="2000" dirty="0">
                <a:solidFill>
                  <a:srgbClr val="7030A0"/>
                </a:solidFill>
              </a:rPr>
              <a:t>What is the average discount</a:t>
            </a:r>
            <a:endParaRPr lang="en-IN" sz="2000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FD2F3-2CDE-7430-5D10-2052BC6ADA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5682" y="2282659"/>
            <a:ext cx="4455687" cy="3758701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7030A0"/>
                </a:solidFill>
              </a:rPr>
              <a:t>5.Which product generates highest profit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1A6C58-F8AE-1A88-3C75-9DF70D588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72" y="719656"/>
            <a:ext cx="5828863" cy="7111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1B0AD1-11D6-3A89-F363-68DA1EC4F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503" y="1552925"/>
            <a:ext cx="5004497" cy="4855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5B62BE9-8C4F-8315-C6AE-859ECDD35F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47" y="2783264"/>
            <a:ext cx="7067280" cy="6457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FA458FE-1C42-3B19-FAE8-F7C85730C2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4063" y="3598329"/>
            <a:ext cx="3687306" cy="294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148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12F81-23C7-862F-22D4-FDE57C0E7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5" y="429492"/>
            <a:ext cx="6736437" cy="518687"/>
          </a:xfrm>
        </p:spPr>
        <p:txBody>
          <a:bodyPr/>
          <a:lstStyle/>
          <a:p>
            <a:r>
              <a:rPr lang="en-IN" sz="2000" dirty="0">
                <a:solidFill>
                  <a:srgbClr val="7030A0"/>
                </a:solidFill>
              </a:rPr>
              <a:t>6.Correlation between  </a:t>
            </a:r>
            <a:r>
              <a:rPr lang="en-IN" sz="2000" dirty="0" err="1">
                <a:solidFill>
                  <a:srgbClr val="7030A0"/>
                </a:solidFill>
              </a:rPr>
              <a:t>discount_Amount</a:t>
            </a:r>
            <a:r>
              <a:rPr lang="en-IN" sz="2000" dirty="0">
                <a:solidFill>
                  <a:srgbClr val="7030A0"/>
                </a:solidFill>
              </a:rPr>
              <a:t> and units sold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FED3DF7-95D5-4AA2-0DE4-9AA679257B9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50348" y="1004831"/>
            <a:ext cx="4184650" cy="724462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D8519D-4D02-2C86-6A2B-67D8D4C03A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5745" y="2561855"/>
            <a:ext cx="8598256" cy="479047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dirty="0">
                <a:solidFill>
                  <a:srgbClr val="7030A0"/>
                </a:solidFill>
              </a:rPr>
              <a:t>Calculate </a:t>
            </a:r>
            <a:r>
              <a:rPr lang="en-IN" dirty="0" err="1">
                <a:solidFill>
                  <a:srgbClr val="7030A0"/>
                </a:solidFill>
              </a:rPr>
              <a:t>Total_Sales:</a:t>
            </a:r>
            <a:r>
              <a:rPr lang="en-IN" dirty="0" err="1">
                <a:solidFill>
                  <a:srgbClr val="00B050"/>
                </a:solidFill>
              </a:rPr>
              <a:t>mean</a:t>
            </a:r>
            <a:r>
              <a:rPr lang="en-IN" dirty="0">
                <a:solidFill>
                  <a:srgbClr val="00B050"/>
                </a:solidFill>
              </a:rPr>
              <a:t> sales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CA3982-61C8-0FC6-BA08-09994034C1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80967" y="4072365"/>
            <a:ext cx="8598256" cy="274444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000" dirty="0">
                <a:solidFill>
                  <a:srgbClr val="00B050"/>
                </a:solidFill>
              </a:rPr>
              <a:t>Standard deviation</a:t>
            </a:r>
          </a:p>
          <a:p>
            <a:pPr>
              <a:buFont typeface="Wingdings" panose="05000000000000000000" pitchFamily="2" charset="2"/>
              <a:buChar char="v"/>
            </a:pPr>
            <a:endParaRPr lang="en-IN" sz="2000" dirty="0">
              <a:solidFill>
                <a:srgbClr val="00B050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endParaRPr lang="en-IN" sz="2000" dirty="0">
              <a:solidFill>
                <a:srgbClr val="00B050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2000" dirty="0">
                <a:solidFill>
                  <a:srgbClr val="00B050"/>
                </a:solidFill>
              </a:rPr>
              <a:t>Variance</a:t>
            </a:r>
          </a:p>
          <a:p>
            <a:pPr>
              <a:buFont typeface="Wingdings" panose="05000000000000000000" pitchFamily="2" charset="2"/>
              <a:buChar char="v"/>
            </a:pPr>
            <a:endParaRPr lang="en-IN" sz="2000" dirty="0">
              <a:solidFill>
                <a:srgbClr val="00B05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E4B6B2-2D3C-7B79-F55F-C12A35C70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311" y="1915036"/>
            <a:ext cx="2759652" cy="4610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DF5589-2757-0DF5-3B1C-4AAA78BA5B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7114" y="3184105"/>
            <a:ext cx="3352778" cy="34420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98597D8-5187-60F1-67D5-56C5AEFBB0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5866" y="3671511"/>
            <a:ext cx="3115274" cy="34420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C1B3F0E-ADF5-6BFB-9BB8-B408310456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5866" y="4546709"/>
            <a:ext cx="3115274" cy="34420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CB27A90-FF9F-ADF9-AD6C-E118E2840B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7114" y="4940382"/>
            <a:ext cx="2623383" cy="42161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477F965-47D5-F9BE-FB16-9792A1359A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5866" y="5884274"/>
            <a:ext cx="3234026" cy="43794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299E069-814D-DC2B-85AC-3C313448E4B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28325" y="6378867"/>
            <a:ext cx="3010355" cy="43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681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15880-16B8-F3C0-4869-8C236D0577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3565" y="872837"/>
            <a:ext cx="5292435" cy="421110"/>
          </a:xfrm>
        </p:spPr>
        <p:txBody>
          <a:bodyPr>
            <a:normAutofit fontScale="90000"/>
          </a:bodyPr>
          <a:lstStyle/>
          <a:p>
            <a:pPr marL="514350" indent="-514350" algn="ctr"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rgbClr val="7030A0"/>
                </a:solidFill>
              </a:rPr>
              <a:t>Sales By Region using in Bar chart </a:t>
            </a:r>
            <a:endParaRPr lang="en-IN" sz="2200" dirty="0">
              <a:solidFill>
                <a:srgbClr val="7030A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D14154-1593-AEED-08F2-C687F95E79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46911"/>
            <a:ext cx="12192000" cy="4852138"/>
          </a:xfrm>
        </p:spPr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0CB759-99BB-B81E-5CCB-26ECB42CC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619" y="1490665"/>
            <a:ext cx="6133788" cy="22522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13A9EE-D2C1-C06E-D713-2C96E7CC7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217" y="3939665"/>
            <a:ext cx="6561272" cy="2747288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97A3E7-0A5F-6414-3ECB-192F86045F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364913"/>
              </p:ext>
            </p:extLst>
          </p:nvPr>
        </p:nvGraphicFramePr>
        <p:xfrm>
          <a:off x="803565" y="171047"/>
          <a:ext cx="8645236" cy="70179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645236">
                  <a:extLst>
                    <a:ext uri="{9D8B030D-6E8A-4147-A177-3AD203B41FA5}">
                      <a16:colId xmlns:a16="http://schemas.microsoft.com/office/drawing/2014/main" val="1292317550"/>
                    </a:ext>
                  </a:extLst>
                </a:gridCol>
              </a:tblGrid>
              <a:tr h="701790">
                <a:tc>
                  <a:txBody>
                    <a:bodyPr/>
                    <a:lstStyle/>
                    <a:p>
                      <a:pPr marL="457200" indent="-457200" algn="ctr">
                        <a:buFont typeface="Wingdings" panose="05000000000000000000" pitchFamily="2" charset="2"/>
                        <a:buChar char="v"/>
                      </a:pPr>
                      <a:r>
                        <a:rPr lang="en-IN" sz="3200" b="0" dirty="0">
                          <a:solidFill>
                            <a:srgbClr val="002060"/>
                          </a:solidFill>
                        </a:rPr>
                        <a:t>Visualizations:(Matplotlib)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6426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0145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E28FC-00AF-574B-0374-E5C0E72A5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10837"/>
            <a:ext cx="10421389" cy="389012"/>
          </a:xfrm>
        </p:spPr>
        <p:txBody>
          <a:bodyPr>
            <a:normAutofit fontScale="90000"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7030A0"/>
                </a:solidFill>
              </a:rPr>
              <a:t>Sales trend over time using In </a:t>
            </a:r>
            <a:r>
              <a:rPr lang="en-US" sz="2400" dirty="0">
                <a:solidFill>
                  <a:srgbClr val="7030A0"/>
                </a:solidFill>
              </a:rPr>
              <a:t>Bar Chart</a:t>
            </a:r>
            <a:endParaRPr lang="en-IN" sz="2400" b="1" dirty="0">
              <a:solidFill>
                <a:srgbClr val="7030A0"/>
              </a:solidFill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195C1A6-3A79-5C3F-6C42-0991D1A988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2837" y="3476769"/>
            <a:ext cx="5928360" cy="32703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7722580-08AB-49AA-15C4-323B4A990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8725" y="700738"/>
            <a:ext cx="5375563" cy="2680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719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D9491-305F-8DC5-4DAD-4A02EC126C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5018" y="581891"/>
            <a:ext cx="8506691" cy="845128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FF0000"/>
                </a:solidFill>
              </a:rPr>
              <a:t>  Category Distribution of Final Sales using with Pie chart</a:t>
            </a:r>
            <a:endParaRPr lang="en-IN" sz="2400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A01CB2-0851-99D0-4D3B-C44570B140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1999" cy="685800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AE189B-A2EC-4A22-ECEA-3773FA3AF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20" y="1876361"/>
            <a:ext cx="5708073" cy="26480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8C60E1-2DE9-7B90-2493-7AD69E8A1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457" y="1876361"/>
            <a:ext cx="3851563" cy="2688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275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396B74-E4BD-CC20-B32D-90F3F6BBE8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1243" y="1094509"/>
            <a:ext cx="5624945" cy="22147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5A2BA8-48D4-C3D4-6FA1-D80A8501B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656" y="3114813"/>
            <a:ext cx="6871854" cy="341067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6D7F119-94EF-3CFD-72D6-A0E5E19E3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484909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7030A0"/>
                </a:solidFill>
              </a:rPr>
              <a:t>Discount vs Units Sold using Scatter plot</a:t>
            </a:r>
            <a:endParaRPr lang="en-IN" sz="24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9490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BF45E-50AF-12E6-1006-AD11A11A6D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0655" y="0"/>
            <a:ext cx="6234545" cy="623455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7030A0"/>
                </a:solidFill>
              </a:rPr>
              <a:t>Sales Trend Over Time  using in line chart</a:t>
            </a:r>
            <a:endParaRPr lang="en-IN" sz="2400" dirty="0">
              <a:solidFill>
                <a:srgbClr val="7030A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DCE98C-7A65-F7E5-3D79-79FEB728A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255" y="623455"/>
            <a:ext cx="6483927" cy="19899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E30759F-7C2C-6C5C-9CC2-1A6736E85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412" y="2687185"/>
            <a:ext cx="8853841" cy="354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204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F82CA-5DDD-235C-D39C-1438E6EBE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18655"/>
            <a:ext cx="8596668" cy="706581"/>
          </a:xfrm>
        </p:spPr>
        <p:txBody>
          <a:bodyPr/>
          <a:lstStyle/>
          <a:p>
            <a:r>
              <a:rPr lang="en-IN" dirty="0"/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56AA4-D19E-A1E7-ADA0-C1B55C524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025236"/>
            <a:ext cx="8596668" cy="5514109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The sales data was successfully analyzed using python libraries like “</a:t>
            </a:r>
            <a:r>
              <a:rPr lang="en-IN" dirty="0" err="1"/>
              <a:t>pandas”,”numpy</a:t>
            </a:r>
            <a:r>
              <a:rPr lang="en-IN" dirty="0"/>
              <a:t>” and “matplotlib”.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Data cleaning was performed :</a:t>
            </a:r>
          </a:p>
          <a:p>
            <a:pPr marL="0" indent="0">
              <a:buNone/>
            </a:pPr>
            <a:r>
              <a:rPr lang="en-IN" dirty="0"/>
              <a:t>      i: Handled missing values, </a:t>
            </a:r>
          </a:p>
          <a:p>
            <a:pPr marL="0" indent="0">
              <a:buNone/>
            </a:pPr>
            <a:r>
              <a:rPr lang="en-IN" dirty="0"/>
              <a:t>     ii: Converted date formats.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Monthly Sales trend shows clear growth/decline patterns.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Category-wise analysis identified top-performing products.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Reginal analysis helped identity high-revenue areas.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Visualization: 1.Bar chart</a:t>
            </a:r>
          </a:p>
          <a:p>
            <a:pPr marL="0" indent="0">
              <a:buNone/>
            </a:pPr>
            <a:r>
              <a:rPr lang="en-IN" dirty="0"/>
              <a:t>                         2.Line chart</a:t>
            </a:r>
          </a:p>
          <a:p>
            <a:pPr marL="0" indent="0">
              <a:buNone/>
            </a:pPr>
            <a:r>
              <a:rPr lang="en-IN" dirty="0"/>
              <a:t>                        3.pie chart</a:t>
            </a:r>
          </a:p>
          <a:p>
            <a:pPr marL="0" indent="0">
              <a:buNone/>
            </a:pPr>
            <a:r>
              <a:rPr lang="en-IN" dirty="0"/>
              <a:t>                        4. scatter plot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tx1"/>
                </a:solidFill>
              </a:rPr>
              <a:t>Predictive analysis(Linear Regression) Helped estimate next month sales.</a:t>
            </a:r>
            <a:endParaRPr lang="en-US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9435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09406-1A1E-96FD-508A-30A00FCA4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2982" y="2632364"/>
            <a:ext cx="5181600" cy="2479963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7030A0"/>
                </a:solidFill>
              </a:rPr>
              <a:t>Thank you</a:t>
            </a:r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CCF8A175-C2E7-3245-C976-0416450A851F}"/>
              </a:ext>
            </a:extLst>
          </p:cNvPr>
          <p:cNvSpPr/>
          <p:nvPr/>
        </p:nvSpPr>
        <p:spPr>
          <a:xfrm>
            <a:off x="10160692" y="429491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tar: 6 Points 4">
            <a:extLst>
              <a:ext uri="{FF2B5EF4-FFF2-40B4-BE49-F238E27FC236}">
                <a16:creationId xmlns:a16="http://schemas.microsoft.com/office/drawing/2014/main" id="{2B7F34AE-CD52-B0F4-E91F-7DEFC165CAA7}"/>
              </a:ext>
            </a:extLst>
          </p:cNvPr>
          <p:cNvSpPr/>
          <p:nvPr/>
        </p:nvSpPr>
        <p:spPr>
          <a:xfrm>
            <a:off x="10792691" y="2078182"/>
            <a:ext cx="623454" cy="678873"/>
          </a:xfrm>
          <a:prstGeom prst="star6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Star: 6 Points 5">
            <a:extLst>
              <a:ext uri="{FF2B5EF4-FFF2-40B4-BE49-F238E27FC236}">
                <a16:creationId xmlns:a16="http://schemas.microsoft.com/office/drawing/2014/main" id="{FEF5ABCE-8075-079D-A07F-27691CC23629}"/>
              </a:ext>
            </a:extLst>
          </p:cNvPr>
          <p:cNvSpPr/>
          <p:nvPr/>
        </p:nvSpPr>
        <p:spPr>
          <a:xfrm>
            <a:off x="11416145" y="3616036"/>
            <a:ext cx="498764" cy="1025237"/>
          </a:xfrm>
          <a:prstGeom prst="star6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Star: 6 Points 6">
            <a:extLst>
              <a:ext uri="{FF2B5EF4-FFF2-40B4-BE49-F238E27FC236}">
                <a16:creationId xmlns:a16="http://schemas.microsoft.com/office/drawing/2014/main" id="{13DA7207-0DC4-FA2D-8E50-F3D51B9F4A8E}"/>
              </a:ext>
            </a:extLst>
          </p:cNvPr>
          <p:cNvSpPr/>
          <p:nvPr/>
        </p:nvSpPr>
        <p:spPr>
          <a:xfrm>
            <a:off x="10557164" y="5472545"/>
            <a:ext cx="623454" cy="914400"/>
          </a:xfrm>
          <a:prstGeom prst="star6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22636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www.w3.org/2000/xmlns/"/>
    <ds:schemaRef ds:uri="http://schemas.microsoft.com/sharepoint/v3"/>
    <ds:schemaRef ds:uri="http://www.w3.org/2001/XMLSchema-instance"/>
    <ds:schemaRef ds:uri="71af3243-3dd4-4a8d-8c0d-dd76da1f02a5"/>
    <ds:schemaRef ds:uri="http://schemas.microsoft.com/office/infopath/2007/PartnerControls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458</TotalTime>
  <Words>356</Words>
  <Application>Microsoft Office PowerPoint</Application>
  <PresentationFormat>Widescreen</PresentationFormat>
  <Paragraphs>74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Trebuchet MS</vt:lpstr>
      <vt:lpstr>Wingdings</vt:lpstr>
      <vt:lpstr>Wingdings 3</vt:lpstr>
      <vt:lpstr>Facet</vt:lpstr>
      <vt:lpstr>SALES DATA ANALYSIS</vt:lpstr>
      <vt:lpstr>PowerPoint Presentation</vt:lpstr>
      <vt:lpstr>Data preprocessing Tasks </vt:lpstr>
      <vt:lpstr>PowerPoint Presentation</vt:lpstr>
      <vt:lpstr>Create new columns: 1.Total_sales=Units_Sold * Unit_price    2.Discount Amount     3.Final_Sales=Total_Sales-Discount </vt:lpstr>
      <vt:lpstr>PowerPoint Presentation</vt:lpstr>
      <vt:lpstr>4.What is the average discount</vt:lpstr>
      <vt:lpstr>PowerPoint Presentation</vt:lpstr>
      <vt:lpstr>Sales By Region using in Bar chart </vt:lpstr>
      <vt:lpstr>Sales trend over time using In Bar Chart</vt:lpstr>
      <vt:lpstr>  Category Distribution of Final Sales using with Pie chart</vt:lpstr>
      <vt:lpstr>Discount vs Units Sold using Scatter plot</vt:lpstr>
      <vt:lpstr>Sales Trend Over Time  using in line chart</vt:lpstr>
      <vt:lpstr>Conclusion: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DATA ANALYSIS</dc:title>
  <dc:creator>Bhavani Chennaboina</dc:creator>
  <cp:lastModifiedBy>Bhavani Chennaboina</cp:lastModifiedBy>
  <cp:revision>4</cp:revision>
  <dcterms:created xsi:type="dcterms:W3CDTF">2026-02-23T07:34:51Z</dcterms:created>
  <dcterms:modified xsi:type="dcterms:W3CDTF">2026-04-25T09:23:49Z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